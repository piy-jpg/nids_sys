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Macro F1-Score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F1-Score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C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AA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6E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
Forest</c:v>
                  </c:pt>
                  <c:pt idx="1">
                    <c:v>XGBoost</c:v>
                  </c:pt>
                  <c:pt idx="2">
                    <c:v>DNN</c:v>
                  </c:pt>
                  <c:pt idx="3">
                    <c:v>Hybrid
Fusion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0.9254</c:v>
                </c:pt>
                <c:pt idx="1">
                  <c:v>0.9654</c:v>
                </c:pt>
                <c:pt idx="2">
                  <c:v>0.8016</c:v>
                </c:pt>
                <c:pt idx="3">
                  <c:v>0.9665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Receiver Operating Characteristic (ROC) — False Positive Rate vs True Positive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 Fusion (AUC=0.993)</c:v>
                </c:pt>
              </c:strCache>
            </c:strRef>
          </c:tx>
          <c:spPr>
            <a:solidFill>
              <a:srgbClr val="00C6E0"/>
            </a:solidFill>
            <a:ln w="31750" cap="flat">
              <a:solidFill>
                <a:srgbClr val="00C6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6E0"/>
              </a:solidFill>
              <a:ln w="9525" cap="flat">
                <a:solidFill>
                  <a:srgbClr val="00C6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0.50</c:v>
                  </c:pt>
                  <c:pt idx="8">
                    <c:v>0.70</c:v>
                  </c:pt>
                  <c:pt idx="9">
                    <c:v>1.00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0.88</c:v>
                </c:pt>
                <c:pt idx="2">
                  <c:v>0.93</c:v>
                </c:pt>
                <c:pt idx="3">
                  <c:v>0.96</c:v>
                </c:pt>
                <c:pt idx="4">
                  <c:v>0.975</c:v>
                </c:pt>
                <c:pt idx="5">
                  <c:v>0.985</c:v>
                </c:pt>
                <c:pt idx="6">
                  <c:v>0.991</c:v>
                </c:pt>
                <c:pt idx="7">
                  <c:v>0.995</c:v>
                </c:pt>
                <c:pt idx="8">
                  <c:v>0.998</c:v>
                </c:pt>
                <c:pt idx="9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(AUC=0.982)</c:v>
                </c:pt>
              </c:strCache>
            </c:strRef>
          </c:tx>
          <c:spPr>
            <a:solidFill>
              <a:srgbClr val="FF8C42"/>
            </a:solidFill>
            <a:ln w="31750" cap="flat">
              <a:solidFill>
                <a:srgbClr val="FF8C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8C42"/>
              </a:solidFill>
              <a:ln w="9525" cap="flat">
                <a:solidFill>
                  <a:srgbClr val="FF8C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0.50</c:v>
                  </c:pt>
                  <c:pt idx="8">
                    <c:v>0.70</c:v>
                  </c:pt>
                  <c:pt idx="9">
                    <c:v>1.00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0.78</c:v>
                </c:pt>
                <c:pt idx="2">
                  <c:v>0.88</c:v>
                </c:pt>
                <c:pt idx="3">
                  <c:v>0.92</c:v>
                </c:pt>
                <c:pt idx="4">
                  <c:v>0.95</c:v>
                </c:pt>
                <c:pt idx="5">
                  <c:v>0.97</c:v>
                </c:pt>
                <c:pt idx="6">
                  <c:v>0.98</c:v>
                </c:pt>
                <c:pt idx="7">
                  <c:v>0.99</c:v>
                </c:pt>
                <c:pt idx="8">
                  <c:v>0.995</c:v>
                </c:pt>
                <c:pt idx="9">
                  <c:v>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DNN (AUC=0.941)</c:v>
                </c:pt>
              </c:strCache>
            </c:strRef>
          </c:tx>
          <c:spPr>
            <a:solidFill>
              <a:srgbClr val="8BAAC4"/>
            </a:solidFill>
            <a:ln w="31750" cap="flat">
              <a:solidFill>
                <a:srgbClr val="8BAA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AAC4"/>
              </a:solidFill>
              <a:ln w="9525" cap="flat">
                <a:solidFill>
                  <a:srgbClr val="8BAA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0.50</c:v>
                  </c:pt>
                  <c:pt idx="8">
                    <c:v>0.70</c:v>
                  </c:pt>
                  <c:pt idx="9">
                    <c:v>1.00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0.62</c:v>
                </c:pt>
                <c:pt idx="2">
                  <c:v>0.78</c:v>
                </c:pt>
                <c:pt idx="3">
                  <c:v>0.85</c:v>
                </c:pt>
                <c:pt idx="4">
                  <c:v>0.89</c:v>
                </c:pt>
                <c:pt idx="5">
                  <c:v>0.93</c:v>
                </c:pt>
                <c:pt idx="6">
                  <c:v>0.96</c:v>
                </c:pt>
                <c:pt idx="7">
                  <c:v>0.97</c:v>
                </c:pt>
                <c:pt idx="8">
                  <c:v>0.99</c:v>
                </c:pt>
                <c:pt idx="9">
                  <c:v>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Guess</c:v>
                </c:pt>
              </c:strCache>
            </c:strRef>
          </c:tx>
          <c:spPr>
            <a:solidFill>
              <a:srgbClr val="444444"/>
            </a:solidFill>
            <a:ln w="31750" cap="flat">
              <a:solidFill>
                <a:srgbClr val="44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4444"/>
              </a:solidFill>
              <a:ln w="9525" cap="flat">
                <a:solidFill>
                  <a:srgbClr val="44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0.30</c:v>
                  </c:pt>
                  <c:pt idx="6">
                    <c:v>0.40</c:v>
                  </c:pt>
                  <c:pt idx="7">
                    <c:v>0.50</c:v>
                  </c:pt>
                  <c:pt idx="8">
                    <c:v>0.70</c:v>
                  </c:pt>
                  <c:pt idx="9">
                    <c:v>1.00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0.5</c:v>
                </c:pt>
                <c:pt idx="8">
                  <c:v>0.7</c:v>
                </c:pt>
                <c:pt idx="9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Categorical Cross-Entropy Loss — Training vs Validation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00C6E0"/>
            </a:solidFill>
            <a:ln w="31750" cap="flat">
              <a:solidFill>
                <a:srgbClr val="00C6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6E0"/>
              </a:solidFill>
              <a:ln w="9525" cap="flat">
                <a:solidFill>
                  <a:srgbClr val="00C6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0.72</c:v>
                </c:pt>
                <c:pt idx="1">
                  <c:v>0.55</c:v>
                </c:pt>
                <c:pt idx="2">
                  <c:v>0.42</c:v>
                </c:pt>
                <c:pt idx="3">
                  <c:v>0.34</c:v>
                </c:pt>
                <c:pt idx="4">
                  <c:v>0.28</c:v>
                </c:pt>
                <c:pt idx="5">
                  <c:v>0.24</c:v>
                </c:pt>
                <c:pt idx="6">
                  <c:v>0.21</c:v>
                </c:pt>
                <c:pt idx="7">
                  <c:v>0.19</c:v>
                </c:pt>
                <c:pt idx="8">
                  <c:v>0.18</c:v>
                </c:pt>
                <c:pt idx="9">
                  <c:v>0.17</c:v>
                </c:pt>
                <c:pt idx="10">
                  <c:v>0.165</c:v>
                </c:pt>
                <c:pt idx="11">
                  <c:v>0.162</c:v>
                </c:pt>
                <c:pt idx="12">
                  <c:v>0.16</c:v>
                </c:pt>
                <c:pt idx="13">
                  <c:v>0.158</c:v>
                </c:pt>
                <c:pt idx="14">
                  <c:v>0.157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FF8C42"/>
            </a:solidFill>
            <a:ln w="31750" cap="flat">
              <a:solidFill>
                <a:srgbClr val="FF8C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8C42"/>
              </a:solidFill>
              <a:ln w="9525" cap="flat">
                <a:solidFill>
                  <a:srgbClr val="FF8C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0.76</c:v>
                </c:pt>
                <c:pt idx="1">
                  <c:v>0.58</c:v>
                </c:pt>
                <c:pt idx="2">
                  <c:v>0.44</c:v>
                </c:pt>
                <c:pt idx="3">
                  <c:v>0.36</c:v>
                </c:pt>
                <c:pt idx="4">
                  <c:v>0.3</c:v>
                </c:pt>
                <c:pt idx="5">
                  <c:v>0.25</c:v>
                </c:pt>
                <c:pt idx="6">
                  <c:v>0.22</c:v>
                </c:pt>
                <c:pt idx="7">
                  <c:v>0.2</c:v>
                </c:pt>
                <c:pt idx="8">
                  <c:v>0.19</c:v>
                </c:pt>
                <c:pt idx="9">
                  <c:v>0.178</c:v>
                </c:pt>
                <c:pt idx="10">
                  <c:v>0.172</c:v>
                </c:pt>
                <c:pt idx="11">
                  <c:v>0.168</c:v>
                </c:pt>
                <c:pt idx="12">
                  <c:v>0.165</c:v>
                </c:pt>
                <c:pt idx="13">
                  <c:v>0.163</c:v>
                </c:pt>
                <c:pt idx="14">
                  <c:v>0.162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Permutation Feature Importance (F-Score Equivalent)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spPr>
            <a:solidFill>
              <a:srgbClr val="00C6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6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E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A4A6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Flow Duration</c:v>
                  </c:pt>
                  <c:pt idx="1">
                    <c:v>Bwd Pkt Len Max</c:v>
                  </c:pt>
                  <c:pt idx="2">
                    <c:v>Source Port</c:v>
                  </c:pt>
                  <c:pt idx="3">
                    <c:v>Destination Port</c:v>
                  </c:pt>
                  <c:pt idx="4">
                    <c:v>Fwd Pkt Len Std</c:v>
                  </c:pt>
                  <c:pt idx="5">
                    <c:v>Flow IAT Max</c:v>
                  </c:pt>
                  <c:pt idx="6">
                    <c:v>Pkt Size Avg</c:v>
                  </c:pt>
                  <c:pt idx="7">
                    <c:v>Init Fwd Win Byts</c:v>
                  </c:pt>
                  <c:pt idx="8">
                    <c:v>Bwd Pkt Len Mean</c:v>
                  </c:pt>
                  <c:pt idx="9">
                    <c:v>Fwd Seg Size Min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0.198</c:v>
                </c:pt>
                <c:pt idx="1">
                  <c:v>0.165</c:v>
                </c:pt>
                <c:pt idx="2">
                  <c:v>0.098</c:v>
                </c:pt>
                <c:pt idx="3">
                  <c:v>0.085</c:v>
                </c:pt>
                <c:pt idx="4">
                  <c:v>0.074</c:v>
                </c:pt>
                <c:pt idx="5">
                  <c:v>0.068</c:v>
                </c:pt>
                <c:pt idx="6">
                  <c:v>0.055</c:v>
                </c:pt>
                <c:pt idx="7">
                  <c:v>0.047</c:v>
                </c:pt>
                <c:pt idx="8">
                  <c:v>0.038</c:v>
                </c:pt>
                <c:pt idx="9">
                  <c:v>0.025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XGBoost F1-Score per Cross-Validation Fold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F1-Score</c:v>
                </c:pt>
              </c:strCache>
            </c:strRef>
          </c:tx>
          <c:spPr>
            <a:solidFill>
              <a:srgbClr val="00C6E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6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E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6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E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6E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0.9521</c:v>
                </c:pt>
                <c:pt idx="1">
                  <c:v>0.9538</c:v>
                </c:pt>
                <c:pt idx="2">
                  <c:v>0.9512</c:v>
                </c:pt>
                <c:pt idx="3">
                  <c:v>0.9544</c:v>
                </c:pt>
                <c:pt idx="4">
                  <c:v>0.9519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94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A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493776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960120"/>
            <a:ext cx="457200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Network Intrusion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Techniques — A Deep Fusion Approach for Mitigating High-Dimensional Threats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182112"/>
            <a:ext cx="82296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3639312"/>
            <a:ext cx="1627632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" y="3703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Luthra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47672" y="3639312"/>
            <a:ext cx="1627632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93392" y="3703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 Sharma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12464" y="3639312"/>
            <a:ext cx="1627632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58184" y="3703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Verma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77256" y="3639312"/>
            <a:ext cx="1627632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3703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Mishra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42048" y="3639312"/>
            <a:ext cx="1627632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87768" y="3703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Priyani Mishra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  ·  Batch 2023–2027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41248"/>
            <a:ext cx="41148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73152" cy="9601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905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905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225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IDS fails against modern threats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841248"/>
            <a:ext cx="41148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41248"/>
            <a:ext cx="73152" cy="9601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905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905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1225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ingestion, normalization, class filtering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41148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38528"/>
            <a:ext cx="73152" cy="9601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0025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2002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Weighting Strategy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class imbalance in neural training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938528"/>
            <a:ext cx="41148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938528"/>
            <a:ext cx="73152" cy="9601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0025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77840" y="2002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XGBoost · Deep Neural Network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35808"/>
            <a:ext cx="41148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35808"/>
            <a:ext cx="73152" cy="9601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0998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3099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Engine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fusion: α=0.70 XGBoost + β=0.30 DNN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035808"/>
            <a:ext cx="41148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035808"/>
            <a:ext cx="73152" cy="9601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0998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77840" y="3099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F1=0.9665, AUC=0.993, Confusion Matrix, ROC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14600" y="4133088"/>
            <a:ext cx="41148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14600" y="4133088"/>
            <a:ext cx="73152" cy="9601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41970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291840" y="4178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9184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adaptive detection roadmap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069080" cy="4023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316736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6187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 of IoT, cloud &amp; edge endpoints massively expands cyberattack surface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5564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signature-based IDS cannot detect zero-day or polymorphic threats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49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R2L, U2R, Probe attacks growing in frequency and sophistication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4320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firewalls are systematically bypassed by modern adversaries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369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(95% benign traffic) causes model bias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785616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307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features cause overfitting in standalone ML models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4160520" cy="4023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00600" y="1316736"/>
            <a:ext cx="3886200" cy="594360"/>
          </a:xfrm>
          <a:prstGeom prst="rect">
            <a:avLst/>
          </a:prstGeom>
          <a:solidFill>
            <a:srgbClr val="17304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316736"/>
            <a:ext cx="64008" cy="5943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56048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DNN probabilistic voting cancels individual blindspots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1984248"/>
            <a:ext cx="3886200" cy="594360"/>
          </a:xfrm>
          <a:prstGeom prst="rect">
            <a:avLst/>
          </a:prstGeom>
          <a:solidFill>
            <a:srgbClr val="17304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984248"/>
            <a:ext cx="64008" cy="5943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039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Weighting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56048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√wc strategy stabilizes gradient flow against class skewness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651760"/>
            <a:ext cx="3886200" cy="594360"/>
          </a:xfrm>
          <a:prstGeom prst="rect">
            <a:avLst/>
          </a:prstGeom>
          <a:solidFill>
            <a:srgbClr val="17304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651760"/>
            <a:ext cx="64008" cy="5943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706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0.9665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56048" y="2935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5-class attack taxonomy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319272"/>
            <a:ext cx="3886200" cy="594360"/>
          </a:xfrm>
          <a:prstGeom prst="rect">
            <a:avLst/>
          </a:prstGeom>
          <a:solidFill>
            <a:srgbClr val="17304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319272"/>
            <a:ext cx="64008" cy="5943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3741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0.993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56048" y="3602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discrimination across all attack categories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986784"/>
            <a:ext cx="3886200" cy="594360"/>
          </a:xfrm>
          <a:prstGeom prst="rect">
            <a:avLst/>
          </a:prstGeom>
          <a:solidFill>
            <a:srgbClr val="17304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986784"/>
            <a:ext cx="64008" cy="5943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041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56048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= 0.9527 ± 0.0071 — robust generalization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7498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978408"/>
            <a:ext cx="402336" cy="402336"/>
          </a:xfrm>
          <a:prstGeom prst="ellipse">
            <a:avLst/>
          </a:prstGeom>
          <a:solidFill>
            <a:srgbClr val="008EB0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78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877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17043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 captures parsed into high-density multidimensional feature space (PCAPs → flow-level properties)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36776"/>
            <a:ext cx="8503920" cy="74980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36776"/>
            <a:ext cx="64008" cy="7498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810512"/>
            <a:ext cx="402336" cy="402336"/>
          </a:xfrm>
          <a:prstGeom prst="ellipse">
            <a:avLst/>
          </a:prstGeom>
          <a:solidFill>
            <a:srgbClr val="008EB0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1709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Filtering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00253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with &lt; 1000 instances discarded to prevent adversarial fragmentation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68880"/>
            <a:ext cx="8503920" cy="74980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68880"/>
            <a:ext cx="64008" cy="7498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42616"/>
            <a:ext cx="402336" cy="402336"/>
          </a:xfrm>
          <a:prstGeom prst="ellipse">
            <a:avLst/>
          </a:prstGeom>
          <a:solidFill>
            <a:srgbClr val="008EB0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25420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28346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labels → y ∈ {0,1,2,3,4}  |  Classes: Benign, DoS, Probe, R2L, U2R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00984"/>
            <a:ext cx="8503920" cy="74980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00984"/>
            <a:ext cx="64008" cy="7498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474720"/>
            <a:ext cx="402336" cy="402336"/>
          </a:xfrm>
          <a:prstGeom prst="ellipse">
            <a:avLst/>
          </a:prstGeom>
          <a:solidFill>
            <a:srgbClr val="008EB0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4128" y="33741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Normalization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366674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x'ᵢⱼ = (xᵢⱼ − μⱼ) / σⱼ  |  Zero mean, unit variance for uniform feature dominance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133088"/>
            <a:ext cx="64008" cy="7498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4306824"/>
            <a:ext cx="402336" cy="402336"/>
          </a:xfrm>
          <a:prstGeom prst="ellipse">
            <a:avLst/>
          </a:prstGeom>
          <a:solidFill>
            <a:srgbClr val="008EB0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4128" y="4206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80:20 Split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24128" y="449884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preserved across train/test sets to maintain statistical integrity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Weighting Strategy — Solving Class Imbalance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8503920" cy="640080"/>
          </a:xfrm>
          <a:prstGeom prst="rect">
            <a:avLst/>
          </a:prstGeom>
          <a:solidFill>
            <a:srgbClr val="2A0D0D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" cy="6400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50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8503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datasets are severely skewed — ~95% benign traffic. Standard class weights cause DNN gradient explosions, destroying precision on minority attack classes.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4114800" cy="18288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91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Weight Formula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= Ntotal / (K × Nc)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Ntotal = total samples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number of classes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= samples in class 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10128"/>
            <a:ext cx="411480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74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Causes explosive gradient updates in DNN → precision collapse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07992" y="2395728"/>
            <a:ext cx="201168" cy="20116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00600" y="1600200"/>
            <a:ext cx="4023360" cy="1828800"/>
          </a:xfrm>
          <a:prstGeom prst="rect">
            <a:avLst/>
          </a:prstGeom>
          <a:solidFill>
            <a:srgbClr val="0D2211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600200"/>
            <a:ext cx="64008" cy="182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Weighting (Ours)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wᶜᵈᵃᵐᵖᵉᵈ = √wc = √(Ntotal / (K×Nc))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56048" y="24871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dampens aggressive penalty.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slowly learns minority features.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violent over-adjustment of benign weights.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310128"/>
            <a:ext cx="4023360" cy="36576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374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Stable gradient convergence across all 15 training epochs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8503920" cy="640080"/>
          </a:xfrm>
          <a:prstGeom prst="rect">
            <a:avLst/>
          </a:prstGeom>
          <a:solidFill>
            <a:srgbClr val="0A1E0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Applied ONLY to DNN (not tree models). XGBoost and Random Forest safely accept strict wc. This architectural separation is critical to system stability.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Architectures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4023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326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" y="1298448"/>
            <a:ext cx="25237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344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8928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uncorrelated trees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14016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3682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feature subsets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89504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4378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 splitting: G = 1−Σpᵢ²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64992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3192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parallelization, no pruning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804672"/>
            <a:ext cx="2743200" cy="4023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804672"/>
            <a:ext cx="27432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9326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74136" y="1298448"/>
            <a:ext cx="25237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01568" y="1344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447288" y="1938528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18928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boosting rounds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47288" y="2414016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3682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= 6, η = 0.1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47288" y="2889504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284378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regularization: Ω(f)=γT+½λ‖w‖²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47288" y="3364992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3192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softmax log-loss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08776" y="804672"/>
            <a:ext cx="2743200" cy="40233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08776" y="804672"/>
            <a:ext cx="2743200" cy="73152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9326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18504" y="1298448"/>
            <a:ext cx="252374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45936" y="13441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45936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0.8016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391656" y="1938528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18928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[128 → 64 → 32] neurons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91656" y="2414016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23682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activation: φ(x) = max(0, x)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91656" y="2889504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284378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p=0.30 between layers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91656" y="3364992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56248" y="33192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epochs, Adam (η=0.001)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models have structural blindspots — DNN struggles with rare features, trees miss latent non-linear patterns. → Hybrid Fusion is necessary.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Engine —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1828800" cy="640080"/>
          </a:xfrm>
          <a:prstGeom prst="rect">
            <a:avLst/>
          </a:prstGeom>
          <a:solidFill>
            <a:srgbClr val="17304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869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Xnew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088136"/>
            <a:ext cx="457200" cy="36576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1005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658368"/>
            <a:ext cx="1920240" cy="502920"/>
          </a:xfrm>
          <a:prstGeom prst="rect">
            <a:avLst/>
          </a:prstGeom>
          <a:solidFill>
            <a:srgbClr val="1E2800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658368"/>
            <a:ext cx="192024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740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1243584"/>
            <a:ext cx="192024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1289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P⃗_XGB (probability vector)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0" y="1874520"/>
            <a:ext cx="1920240" cy="502920"/>
          </a:xfrm>
          <a:prstGeom prst="rect">
            <a:avLst/>
          </a:prstGeom>
          <a:solidFill>
            <a:srgbClr val="00162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874520"/>
            <a:ext cx="1920240" cy="54864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1956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459736"/>
            <a:ext cx="192024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88920" y="2505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P⃗_DNN (probability vector)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78608" y="914400"/>
            <a:ext cx="182880" cy="1554480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8608" y="914400"/>
            <a:ext cx="182880" cy="36576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2468880"/>
            <a:ext cx="182880" cy="36576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914400"/>
            <a:ext cx="36576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468880"/>
            <a:ext cx="36576" cy="36576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1417320"/>
            <a:ext cx="2286000" cy="1097280"/>
          </a:xfrm>
          <a:prstGeom prst="rect">
            <a:avLst/>
          </a:prstGeom>
          <a:solidFill>
            <a:srgbClr val="102235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417320"/>
            <a:ext cx="22860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1847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P_fusion = 0.70 × P⃗_XGB + 0.30 × P⃗_DNN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194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argmax(P_fusion)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1554480"/>
            <a:ext cx="1417320" cy="822960"/>
          </a:xfrm>
          <a:prstGeom prst="rect">
            <a:avLst/>
          </a:prstGeom>
          <a:solidFill>
            <a:srgbClr val="0A1A0A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0" y="1554480"/>
            <a:ext cx="1417320" cy="64008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6642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81728" y="1938528"/>
            <a:ext cx="274320" cy="36576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938528"/>
            <a:ext cx="292608" cy="36576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246120"/>
            <a:ext cx="2743200" cy="91440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246120"/>
            <a:ext cx="274320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0.70 (XGBoost)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3648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weight: tree-based precision on structured network features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64408" y="3246120"/>
            <a:ext cx="2743200" cy="91440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64408" y="3246120"/>
            <a:ext cx="27432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0.30 (DNN)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01568" y="3648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non-linear pattern extraction from deep perceptrons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08776" y="3246120"/>
            <a:ext cx="2743200" cy="91440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08776" y="3246120"/>
            <a:ext cx="27432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decision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45936" y="3648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 = highest probability from fused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Comparative Performance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56032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64008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144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1612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256032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47088"/>
            <a:ext cx="64008" cy="8229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928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185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1396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2825496"/>
            <a:ext cx="256032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25496"/>
            <a:ext cx="64008" cy="822960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8712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(standalone)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31181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0.8016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256032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64008" cy="82296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8496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" y="4142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40965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0.9665</a:t>
            </a:r>
            <a:endParaRPr lang="en-US" sz="18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063240" y="749808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ROC Curve &amp; AUC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41248"/>
            <a:ext cx="27432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2743200" cy="73152"/>
          </a:xfrm>
          <a:prstGeom prst="rect">
            <a:avLst/>
          </a:prstGeom>
          <a:solidFill>
            <a:srgbClr val="8BAAC4"/>
          </a:solidFill>
          <a:ln w="12700">
            <a:solidFill>
              <a:srgbClr val="8BAA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(standalone)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0.941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alert precision; FP overflow risk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4408" y="841248"/>
            <a:ext cx="27432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841248"/>
            <a:ext cx="27432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1243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0.982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1568" y="1609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boundary: excellent categorical split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8776" y="841248"/>
            <a:ext cx="27432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841248"/>
            <a:ext cx="2743200" cy="73152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12435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5936" y="1609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Near-unanimous discrimination — best in class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2103120"/>
          <a:ext cx="8503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DNN Training Convergence (15 Epochs)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8229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822960"/>
            <a:ext cx="3017520" cy="77724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969264"/>
            <a:ext cx="274320" cy="27432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969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8778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Convergence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63640" y="11338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divergence between training &amp; validation curves — no overfitting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06440" y="1709928"/>
            <a:ext cx="3017520" cy="77724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856232"/>
            <a:ext cx="274320" cy="27432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1764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Descent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63640" y="20208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drops sharply in first 5 epochs, stabilizes by epoch 10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06440" y="2596896"/>
            <a:ext cx="3017520" cy="77724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97880" y="2743200"/>
            <a:ext cx="274320" cy="27432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2651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Weighting Works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263640" y="2907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explosion despite extreme class imbalance in dataset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06440" y="3483864"/>
            <a:ext cx="3017520" cy="77724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97880" y="3630168"/>
            <a:ext cx="274320" cy="27432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63640" y="3538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Probabilities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263640" y="3794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P⃗_DNN vectors are always fed to downstream fusion matrix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Top 10 Discriminatory Features (XGBoost)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822960"/>
          <a:ext cx="4754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257800" y="822960"/>
            <a:ext cx="3566160" cy="3977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57800" y="822960"/>
            <a:ext cx="356616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932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Feature Analysis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76672" y="1371600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3350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 Dominates: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778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 are the primary attack fingerprint — attacks exhibit distinct timing behaviors vs. benign traffic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76672" y="1938528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9019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Size Rules: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77840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 Pkt Len Max captures hostile agent packet sizing strategies not visible in IP/port metadata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76672" y="2505456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468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IP/Port Unreliable: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77840" y="2670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Source/destination ports rank lower due to spoofing capabilities used by modern adversaries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76672" y="3072384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3035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Confirms: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77840" y="3236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independently confirmed initial TCP window sizes (Init Fwd Win Byts) as dominant contributors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76672" y="3639312"/>
            <a:ext cx="128016" cy="128016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7840" y="36027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Flow-Based Features: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77840" y="3803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top 10 features are flow-behavioral — not raw header values — validating the preprocessing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 (Hybrid Fusion Model)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456" y="4389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01952" y="740664"/>
            <a:ext cx="1078992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9384" y="7680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80944" y="740664"/>
            <a:ext cx="1078992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7680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59936" y="740664"/>
            <a:ext cx="1078992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7368" y="7680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38928" y="740664"/>
            <a:ext cx="1078992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7680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740664"/>
            <a:ext cx="1078992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7680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 rot="16200000">
            <a:off x="320040" y="1792224"/>
            <a:ext cx="45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1216152"/>
            <a:ext cx="10789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123444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01952" y="1216152"/>
            <a:ext cx="1078992" cy="658368"/>
          </a:xfrm>
          <a:prstGeom prst="rect">
            <a:avLst/>
          </a:prstGeom>
          <a:solidFill>
            <a:srgbClr val="004466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9384" y="123444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80944" y="1216152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8376" y="123444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59936" y="1216152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7368" y="123444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38928" y="1216152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23444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216152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123444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1874520"/>
            <a:ext cx="10789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189280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01952" y="1874520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9384" y="189280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80944" y="1874520"/>
            <a:ext cx="1078992" cy="658368"/>
          </a:xfrm>
          <a:prstGeom prst="rect">
            <a:avLst/>
          </a:prstGeom>
          <a:solidFill>
            <a:srgbClr val="004466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08376" y="189280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059936" y="1874520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87368" y="189280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38928" y="1874520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189280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1874520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1892808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2532888"/>
            <a:ext cx="10789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2551176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901952" y="2532888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9384" y="2551176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980944" y="2532888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08376" y="2551176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59936" y="2532888"/>
            <a:ext cx="1078992" cy="658368"/>
          </a:xfrm>
          <a:prstGeom prst="rect">
            <a:avLst/>
          </a:prstGeom>
          <a:solidFill>
            <a:srgbClr val="004466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87368" y="2551176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38928" y="2532888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2551176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2532888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2551176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22960" y="3191256"/>
            <a:ext cx="10789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" y="3209544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901952" y="3191256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9384" y="3209544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980944" y="3191256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08376" y="3209544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059936" y="3191256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87368" y="3209544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138928" y="3191256"/>
            <a:ext cx="1078992" cy="658368"/>
          </a:xfrm>
          <a:prstGeom prst="rect">
            <a:avLst/>
          </a:prstGeom>
          <a:solidFill>
            <a:srgbClr val="004466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66360" y="3209544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217920" y="3191256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45352" y="3209544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22960" y="3849624"/>
            <a:ext cx="10789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0392" y="386791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901952" y="3849624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29384" y="386791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980944" y="3849624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08376" y="386791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059936" y="3849624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87368" y="386791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138928" y="3849624"/>
            <a:ext cx="1078992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66360" y="386791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217920" y="3849624"/>
            <a:ext cx="1078992" cy="658368"/>
          </a:xfrm>
          <a:prstGeom prst="rect">
            <a:avLst/>
          </a:prstGeom>
          <a:solidFill>
            <a:srgbClr val="004466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45352" y="386791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7863840" y="8046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863840" y="1243584"/>
            <a:ext cx="1051560" cy="59436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7909560" y="12801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909560" y="14996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~99.4%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863840" y="1947672"/>
            <a:ext cx="1051560" cy="59436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909560" y="1984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909560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~98.2%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863840" y="2651760"/>
            <a:ext cx="1051560" cy="59436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7909560" y="26883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909560" y="29077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~98.9%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863840" y="3355848"/>
            <a:ext cx="1051560" cy="59436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909560" y="33924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909560" y="3611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~95.8%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7863840" y="4059936"/>
            <a:ext cx="1051560" cy="59436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7909560" y="40965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909560" y="43159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~93.8%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5-Fold Stratified Cross-Validation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804672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841248"/>
            <a:ext cx="3017520" cy="65836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841248"/>
            <a:ext cx="64008" cy="65836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886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0" y="8869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KFold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11247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class distribution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06440" y="1600200"/>
            <a:ext cx="3017520" cy="65836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1600200"/>
            <a:ext cx="64008" cy="65836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1645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Folds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98080" y="16459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1883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ML benchmarking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06440" y="2359152"/>
            <a:ext cx="3017520" cy="65836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2359152"/>
            <a:ext cx="64008" cy="65836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404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F1-Score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98080" y="24048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26426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cross-fold performance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06440" y="3118104"/>
            <a:ext cx="3017520" cy="65836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3118104"/>
            <a:ext cx="64008" cy="65836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9320" y="3163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498080" y="31638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0.0071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89320" y="3401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— highly stable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3877056"/>
            <a:ext cx="3017520" cy="658368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806440" y="3877056"/>
            <a:ext cx="64008" cy="65836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89320" y="3922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F1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98080" y="39227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89320" y="4160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 held-out test set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0040" y="4279392"/>
            <a:ext cx="8503920" cy="502920"/>
          </a:xfrm>
          <a:prstGeom prst="rect">
            <a:avLst/>
          </a:prstGeom>
          <a:solidFill>
            <a:srgbClr val="0A1E0F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02920" y="4325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confirms model generalizability beyond single train/test split. Mean F1=0.9527, std=0.0071 — minimal fold-to-fold variance proves robust statistical stability.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201168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41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Macro F1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82296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22960"/>
            <a:ext cx="2011680" cy="64008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941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1444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201168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41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1444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Mean F1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82296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822960"/>
            <a:ext cx="201168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941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1444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Taxonomy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1993392"/>
            <a:ext cx="4114800" cy="201168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1993392"/>
            <a:ext cx="64008" cy="201168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" y="2450592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395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XGBoost+DNN fusion outperforms all standalone models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" y="2761488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2706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Weighting Strategy effectively solves minority class collapse in DNNs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" y="3072384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017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α=0.70 XGBoost weighting leverages its superior categorical precision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" y="3383280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 &amp; Bwd Pkt Len Max are the most discriminatory features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" y="3694176"/>
            <a:ext cx="91440" cy="91440"/>
          </a:xfrm>
          <a:prstGeom prst="ellipse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639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is scalable for real-world high-throughput production deployment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1993392"/>
            <a:ext cx="4114800" cy="2011680"/>
          </a:xfrm>
          <a:prstGeom prst="rect">
            <a:avLst/>
          </a:prstGeom>
          <a:solidFill>
            <a:srgbClr val="0F2238"/>
          </a:solidFill>
          <a:ln w="12700">
            <a:solidFill>
              <a:srgbClr val="008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993392"/>
            <a:ext cx="64008" cy="201168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28032" y="2450592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Reinforcement Learning for adaptive threshold tuning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28032" y="2761488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2706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inference on edge network hardware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28032" y="3072384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distributed network nodes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28032" y="3383280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328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 robustness testing with GAN-generated traffic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3694176"/>
            <a:ext cx="91440" cy="9144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3639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attack taxonomy to include IoT-specific vectors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1605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provides a directly actionable blueprint for researchers and network security professionals developing next-generation autonomous defense countermeasures.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914400" cy="45720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I. H. Sarker, "Deep Learning: A Comprehensive Overview," SN Computer Science, 2021.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2763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A. Khraisat et al., "Survey of Intrusion Detection Systems," Cybersecurity, 2019.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140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Mishra et al., "Machine Learning Techniques for Intrusion Detection," IEEE Comm. Surveys, 2018.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14016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004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M. A. Ambusaidi et al., "Building an IDS Using Filter-Based Feature Selection," IEEE Trans. Computers, 2016.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98678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Chen &amp; C. Guestrin, "XGBoost: A Scalable Tree Boosting System," ACM SIGKDD, 2016.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986784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8412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M. Zivkovic et al., "XGBoost Hyperparameter Tuning for Intrusion Detection," Computers &amp; EE, 2022.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841248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2763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R. Vinayakumar et al., "Deep Learning for IDS," IEEE Access, 2019.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627632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4140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I. Sharafaldin et al., "Toward Generating a New Intrusion Detection Dataset," ICISSP, 2018.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414016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004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M. Buda et al., "Class Imbalance in Convolutional Neural Networks," Neural Networks, 2018.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200400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98678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A. Fernandez et al., "SMOTE for Learning from Imbalanced Data — 15-Year Anniversary," JAIR, 2018.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986784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C6E0"/>
          </a:solidFill>
          <a:ln w="12700">
            <a:solidFill>
              <a:srgbClr val="00C6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001828">
              <a:alpha val="80000"/>
            </a:srgbClr>
          </a:solidFill>
          <a:ln w="12700">
            <a:solidFill>
              <a:srgbClr val="008E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999232"/>
            <a:ext cx="27432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54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NIDS — Macro F1: 0.9665 · AUC: 0.993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· Department of Computer Science &amp; Engineering · 2023–2027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Luthra  ·  Manan Sharma  ·  Piyush Verma  ·  Priyanshi Mishra  ·  Priyani Mishra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NIDS Using Machine Learning</dc:title>
  <dc:subject>PptxGenJS Presentation</dc:subject>
  <dc:creator>IILM University</dc:creator>
  <cp:lastModifiedBy>IILM University</cp:lastModifiedBy>
  <cp:revision>1</cp:revision>
  <dcterms:created xsi:type="dcterms:W3CDTF">2026-03-31T20:50:35Z</dcterms:created>
  <dcterms:modified xsi:type="dcterms:W3CDTF">2026-03-31T20:50:35Z</dcterms:modified>
</cp:coreProperties>
</file>